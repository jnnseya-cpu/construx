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on their money, not our software. Say the headline, then stop talking.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 them nod at all three. Everyone commercial in the room has lost one of these.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Hold on the number. Then say: that is one notice, on one application, on one job.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line that lands is "nothing to reconcile". Everyone else integrates systems; we never had two.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Ask the client-side people who holds the provenance of their last building. Nobody does.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For SMEs this is the whole pitch. They lose to the Act because nobody is counting days.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closes the AI objection. The adjudicator line lands with anyone commercial.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Hand this slide to their IT person and keep talking to the commercial lead.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seat model is the commercial weapon. Rivals charge per head, so nobody puts their subbies 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 not skip this. It makes the other nine slides believable, and buyers remember 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on the walkthrough. Free, no login, and it converts better than any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326880" y="-1737360"/>
            <a:ext cx="5120640" cy="5120640"/>
          </a:xfrm>
          <a:prstGeom prst="ellipse">
            <a:avLst/>
          </a:prstGeom>
          <a:solidFill>
            <a:srgbClr val="2E3944"/>
          </a:solidFill>
          <a:ln/>
        </p:spPr>
      </p:sp>
      <p:sp>
        <p:nvSpPr>
          <p:cNvPr id="3" name="Shape 1"/>
          <p:cNvSpPr/>
          <p:nvPr/>
        </p:nvSpPr>
        <p:spPr>
          <a:xfrm>
            <a:off x="10881360" y="-365760"/>
            <a:ext cx="1188720" cy="1188720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685800" y="1188720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CONSTRUX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737360"/>
            <a:ext cx="896112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Stop losing money</a:t>
            </a:r>
            <a:endParaRPr lang="en-US" sz="44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 have already earned.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4114800"/>
            <a:ext cx="8046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AI construction operating system that computes your contract on the day it moves — not four weeks later, when the money has already gone.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507492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trader to Tier 1. One record. Concept to year thirty.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608076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construxvg.com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JOB, EVERY MONTH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Three ways the money walks out.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33172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78408" y="2606040"/>
            <a:ext cx="384048" cy="38404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78408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315468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Miss the notice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3675888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Miss the pay less window and the application is payable in full. Not argued. Payable.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4507992" y="233172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2606040"/>
            <a:ext cx="384048" cy="38404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315468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Lose the claim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675888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 you cannot evidence on the day is delay you absorb. Nobody pays for it later.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8330184" y="2331720"/>
            <a:ext cx="3429000" cy="2331720"/>
          </a:xfrm>
          <a:prstGeom prst="roundRect">
            <a:avLst>
              <a:gd name="adj" fmla="val 31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22792" y="2606040"/>
            <a:ext cx="384048" cy="38404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22792" y="26060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622792" y="3154680"/>
            <a:ext cx="284378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Find out late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8622792" y="3675888"/>
            <a:ext cx="2843784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weeks between the event and the review. The margin is gone before the meeting.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685800" y="5029200"/>
            <a:ext cx="10789920" cy="1005840"/>
          </a:xfrm>
          <a:prstGeom prst="roundRect">
            <a:avLst>
              <a:gd name="adj" fmla="val 7273"/>
            </a:avLst>
          </a:prstGeom>
          <a:solidFill>
            <a:srgbClr val="1A1F2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43000" y="5285232"/>
            <a:ext cx="9875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These are not software problems. They are counting problems.</a:t>
            </a:r>
            <a:endParaRPr lang="en-US" sz="2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APPLICATION. ONE NOTICE. ONE DAY.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1051560"/>
            <a:ext cx="67665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0" b="1" dirty="0">
                <a:solidFill>
                  <a:srgbClr val="F2A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£119,650</a:t>
            </a:r>
            <a:endParaRPr lang="en-US" sz="9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283464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protected on a single valuation,</a:t>
            </a:r>
            <a:endParaRPr lang="en-US" sz="2200" dirty="0"/>
          </a:p>
          <a:p>
            <a:pPr indent="0" marL="0">
              <a:lnSpc>
                <a:spcPts val="3000"/>
              </a:lnSpc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because something was counting the window.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411480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Handrail terminations not to detail. Dewatering rates not agreed. Both were already on the record from site — so the platform priced the withholding, drafted the notice and served it inside the window, on the day.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7635240" y="1188720"/>
            <a:ext cx="3840480" cy="4206240"/>
          </a:xfrm>
          <a:prstGeom prst="roundRect">
            <a:avLst>
              <a:gd name="adj" fmla="val 1905"/>
            </a:avLst>
          </a:prstGeom>
          <a:solidFill>
            <a:srgbClr val="2E3944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7955280" y="1536192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APPLIED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955280" y="1810512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A8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£2,248,650</a:t>
            </a:r>
            <a:endParaRPr lang="en-US" sz="2400" dirty="0"/>
          </a:p>
        </p:txBody>
      </p:sp>
      <p:sp>
        <p:nvSpPr>
          <p:cNvPr id="9" name="Text 7"/>
          <p:cNvSpPr txBox="1"/>
          <p:nvPr/>
        </p:nvSpPr>
        <p:spPr>
          <a:xfrm>
            <a:off x="7955280" y="2505456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WITHHELD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7955280" y="2779776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2A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−£119,650</a:t>
            </a:r>
            <a:endParaRPr lang="en-US" sz="2400" dirty="0"/>
          </a:p>
        </p:txBody>
      </p:sp>
      <p:sp>
        <p:nvSpPr>
          <p:cNvPr id="11" name="Text 9"/>
          <p:cNvSpPr txBox="1"/>
          <p:nvPr/>
        </p:nvSpPr>
        <p:spPr>
          <a:xfrm>
            <a:off x="7955280" y="347472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7955280" y="3749040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4FB47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the window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7955280" y="444398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spc="150" kern="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NOTIFIED SUM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7955280" y="4718304"/>
            <a:ext cx="32004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£2,129,000</a:t>
            </a:r>
            <a:endParaRPr lang="en-US" sz="2400" dirty="0"/>
          </a:p>
        </p:txBody>
      </p:sp>
      <p:sp>
        <p:nvSpPr>
          <p:cNvPr id="15" name="Text 13"/>
          <p:cNvSpPr txBox="1"/>
          <p:nvPr/>
        </p:nvSpPr>
        <p:spPr>
          <a:xfrm>
            <a:off x="685800" y="6309360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the demonstration project on our site, which you can walk through before you sign up. A worked example, not a customer outcome.</a:t>
            </a:r>
            <a:endParaRPr lang="en-US" sz="9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NOBODY CATCHES IT IN TIME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Your cost report is a rumour.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1920240"/>
            <a:ext cx="53035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number somebody keyed in, from a spreadsheet somebody else keyed in, from a system that disagreed with the first one. By the time anyone reconciles it, the window has closed.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324612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CONSTRUX has nothing to reconcile.</a:t>
            </a:r>
            <a:endParaRPr lang="en-US" sz="25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3840480"/>
            <a:ext cx="53035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append-only record of everything that happened. Every figure on every screen is computed from it, so the numbers cannot disagree — and each one walks back to the photograph, the drawing revision or the signed instruction it came from.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309360" y="1920240"/>
            <a:ext cx="51663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6583680" y="2276856"/>
            <a:ext cx="310896" cy="310896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7059168" y="2075688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Hash-chained</a:t>
            </a:r>
            <a:endParaRPr lang="en-US" sz="1450" dirty="0"/>
          </a:p>
        </p:txBody>
      </p:sp>
      <p:sp>
        <p:nvSpPr>
          <p:cNvPr id="10" name="Text 8"/>
          <p:cNvSpPr txBox="1"/>
          <p:nvPr/>
        </p:nvSpPr>
        <p:spPr>
          <a:xfrm>
            <a:off x="7059168" y="2404872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Change a record and the chain breaks, visibly. Nobody edits history here.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309360" y="3127248"/>
            <a:ext cx="51663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6583680" y="3483864"/>
            <a:ext cx="310896" cy="310896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059168" y="3282696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</a:t>
            </a:r>
            <a:endParaRPr lang="en-US" sz="1450" dirty="0"/>
          </a:p>
        </p:txBody>
      </p:sp>
      <p:sp>
        <p:nvSpPr>
          <p:cNvPr id="14" name="Text 12"/>
          <p:cNvSpPr txBox="1"/>
          <p:nvPr/>
        </p:nvSpPr>
        <p:spPr>
          <a:xfrm>
            <a:off x="7059168" y="3611880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correction is a new entry, with a reason and a name against it.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309360" y="4334256"/>
            <a:ext cx="5166360" cy="1024128"/>
          </a:xfrm>
          <a:prstGeom prst="roundRect">
            <a:avLst>
              <a:gd name="adj" fmla="val 714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6583680" y="4690872"/>
            <a:ext cx="310896" cy="310896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7059168" y="4489704"/>
            <a:ext cx="4206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Replayable</a:t>
            </a:r>
            <a:endParaRPr lang="en-US" sz="1450" dirty="0"/>
          </a:p>
        </p:txBody>
      </p:sp>
      <p:sp>
        <p:nvSpPr>
          <p:cNvPr id="18" name="Text 16"/>
          <p:cNvSpPr txBox="1"/>
          <p:nvPr/>
        </p:nvSpPr>
        <p:spPr>
          <a:xfrm>
            <a:off x="7059168" y="4818888"/>
            <a:ext cx="42062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“What did we know on the 14th?” still has an answer two years later.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6309360" y="5577840"/>
            <a:ext cx="5166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This is what a Golden Thread was always supposed to mean.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 TO YEAR THIRTY, ONE RECORD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Everyone else stops at handover.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448056" y="2377440"/>
            <a:ext cx="1170432" cy="1051560"/>
          </a:xfrm>
          <a:prstGeom prst="roundRect">
            <a:avLst>
              <a:gd name="adj" fmla="val 5217"/>
            </a:avLst>
          </a:prstGeom>
          <a:solidFill>
            <a:srgbClr val="2E394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448056" y="237744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Concept</a:t>
            </a:r>
            <a:endParaRPr lang="en-US" sz="1150" dirty="0"/>
          </a:p>
        </p:txBody>
      </p:sp>
      <p:sp>
        <p:nvSpPr>
          <p:cNvPr id="6" name="Shape 4"/>
          <p:cNvSpPr/>
          <p:nvPr/>
        </p:nvSpPr>
        <p:spPr>
          <a:xfrm>
            <a:off x="1709928" y="2377440"/>
            <a:ext cx="1170432" cy="1051560"/>
          </a:xfrm>
          <a:prstGeom prst="roundRect">
            <a:avLst>
              <a:gd name="adj" fmla="val 5217"/>
            </a:avLst>
          </a:prstGeom>
          <a:solidFill>
            <a:srgbClr val="2E3944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1709928" y="237744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2971800" y="2377440"/>
            <a:ext cx="1170432" cy="1051560"/>
          </a:xfrm>
          <a:prstGeom prst="roundRect">
            <a:avLst>
              <a:gd name="adj" fmla="val 5217"/>
            </a:avLst>
          </a:prstGeom>
          <a:solidFill>
            <a:srgbClr val="F2A81D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2971800" y="237744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4233672" y="2377440"/>
            <a:ext cx="1170432" cy="1051560"/>
          </a:xfrm>
          <a:prstGeom prst="roundRect">
            <a:avLst>
              <a:gd name="adj" fmla="val 5217"/>
            </a:avLst>
          </a:prstGeom>
          <a:solidFill>
            <a:srgbClr val="F2A81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233672" y="237744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Award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5495544" y="2377440"/>
            <a:ext cx="1170432" cy="1051560"/>
          </a:xfrm>
          <a:prstGeom prst="roundRect">
            <a:avLst>
              <a:gd name="adj" fmla="val 5217"/>
            </a:avLst>
          </a:prstGeom>
          <a:solidFill>
            <a:srgbClr val="F2A81D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5495544" y="237744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Mobilise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757416" y="2377440"/>
            <a:ext cx="1170432" cy="1051560"/>
          </a:xfrm>
          <a:prstGeom prst="roundRect">
            <a:avLst>
              <a:gd name="adj" fmla="val 5217"/>
            </a:avLst>
          </a:prstGeom>
          <a:solidFill>
            <a:srgbClr val="F2A81D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757416" y="237744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8019288" y="2377440"/>
            <a:ext cx="1170432" cy="1051560"/>
          </a:xfrm>
          <a:prstGeom prst="roundRect">
            <a:avLst>
              <a:gd name="adj" fmla="val 5217"/>
            </a:avLst>
          </a:prstGeom>
          <a:solidFill>
            <a:srgbClr val="F2A81D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8019288" y="237744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</a:t>
            </a:r>
            <a:endParaRPr lang="en-US" sz="1150" dirty="0"/>
          </a:p>
        </p:txBody>
      </p:sp>
      <p:sp>
        <p:nvSpPr>
          <p:cNvPr id="18" name="Shape 16"/>
          <p:cNvSpPr/>
          <p:nvPr/>
        </p:nvSpPr>
        <p:spPr>
          <a:xfrm>
            <a:off x="9281160" y="2377440"/>
            <a:ext cx="1170432" cy="1051560"/>
          </a:xfrm>
          <a:prstGeom prst="roundRect">
            <a:avLst>
              <a:gd name="adj" fmla="val 5217"/>
            </a:avLst>
          </a:prstGeom>
          <a:solidFill>
            <a:srgbClr val="F2A81D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9281160" y="237744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10543032" y="2377440"/>
            <a:ext cx="1170432" cy="1051560"/>
          </a:xfrm>
          <a:prstGeom prst="roundRect">
            <a:avLst>
              <a:gd name="adj" fmla="val 5217"/>
            </a:avLst>
          </a:prstGeom>
          <a:solidFill>
            <a:srgbClr val="2E3944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10543032" y="2377440"/>
            <a:ext cx="1170432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Operate</a:t>
            </a:r>
            <a:endParaRPr lang="en-US" sz="1150" dirty="0"/>
          </a:p>
        </p:txBody>
      </p:sp>
      <p:sp>
        <p:nvSpPr>
          <p:cNvPr id="22" name="Text 20"/>
          <p:cNvSpPr txBox="1"/>
          <p:nvPr/>
        </p:nvSpPr>
        <p:spPr>
          <a:xfrm>
            <a:off x="7325258" y="3566160"/>
            <a:ext cx="32918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other toolchain breaks here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685800" y="4206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Win it</a:t>
            </a:r>
            <a:endParaRPr lang="en-US" sz="2200" dirty="0"/>
          </a:p>
        </p:txBody>
      </p:sp>
      <p:sp>
        <p:nvSpPr>
          <p:cNvPr id="24" name="Text 22"/>
          <p:cNvSpPr txBox="1"/>
          <p:nvPr/>
        </p:nvSpPr>
        <p:spPr>
          <a:xfrm>
            <a:off x="685800" y="470916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Tender take-off, bid/no-bid on ten factors, and a red team that attacks your submission before the evaluator does.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4434840" y="4206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Run it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4434840" y="470916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Cost, programme, quality, safety and the site app on one spine. The final cost forecast moves when reality does.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8183880" y="4206240"/>
            <a:ext cx="3474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2A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Keep it</a:t>
            </a:r>
            <a:endParaRPr lang="en-US" sz="2200" dirty="0"/>
          </a:p>
        </p:txBody>
      </p:sp>
      <p:sp>
        <p:nvSpPr>
          <p:cNvPr id="28" name="Text 26"/>
          <p:cNvSpPr txBox="1"/>
          <p:nvPr/>
        </p:nvSpPr>
        <p:spPr>
          <a:xfrm>
            <a:off x="8183880" y="4709160"/>
            <a:ext cx="347472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Handover packs, O&amp;M and lifecycle cost — read off the same record that built the thing.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RULES YOU ARE JUDGED AGAINST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Act does not care that you were busy.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107899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1005840" y="2596896"/>
            <a:ext cx="384048" cy="38404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1005840" y="25968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1600200" y="2404872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Construction Act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600200" y="2788920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HGCRA 1996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4434840" y="2423160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Notice windows counted from your contract's own dates. A missed window becomes an alarm before it becomes a loss.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85800" y="3502152"/>
            <a:ext cx="107899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1005840" y="3858768"/>
            <a:ext cx="384048" cy="38404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1005840" y="38587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600200" y="3666744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CDM 2015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600200" y="4050792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Principal Contractor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4434840" y="3685032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duty set, the documents each duty needs and who holds it — built from the project record, not a template.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85800" y="4764024"/>
            <a:ext cx="10789920" cy="109728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1005840" y="5120640"/>
            <a:ext cx="384048" cy="38404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05840" y="51206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9" name="Text 17"/>
          <p:cNvSpPr txBox="1"/>
          <p:nvPr/>
        </p:nvSpPr>
        <p:spPr>
          <a:xfrm>
            <a:off x="1600200" y="4928616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NEC4 · JCT · FIDIC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1600200" y="5312664"/>
            <a:ext cx="2651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amended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4434840" y="4946904"/>
            <a:ext cx="67665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reasons about your contract with your amendments applied, not the published form somebody filed away.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685800" y="608076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Deadlines are arithmetic. Let the machine do the arithmetic.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QUESTION YOUR CLIENT WILL ASK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 you could put in front of an adjudicator.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85800" y="2167128"/>
            <a:ext cx="292608" cy="29260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161288" y="210312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agent acts on its own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161288" y="2441448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mandate stops at propose. A test fails if an agent ever grants itself more.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3127248"/>
            <a:ext cx="292608" cy="29260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1161288" y="306324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output is attributed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1161288" y="3401568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model, which evidence, whose approval, and exactly what changed.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4087368"/>
            <a:ext cx="292608" cy="29260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1161288" y="402336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refuses rather than invents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161288" y="4361688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Ask for a number the record cannot support and it says so. That is the feature.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85800" y="5047488"/>
            <a:ext cx="292608" cy="29260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161288" y="4983480"/>
            <a:ext cx="594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Priced before it runs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1161288" y="5321808"/>
            <a:ext cx="594360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 see what a run costs before you commit, and it draws on a wallet you cap.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7315200" y="2057400"/>
            <a:ext cx="4160520" cy="3383280"/>
          </a:xfrm>
          <a:prstGeom prst="roundRect">
            <a:avLst>
              <a:gd name="adj" fmla="val 2162"/>
            </a:avLst>
          </a:prstGeom>
          <a:solidFill>
            <a:srgbClr val="2E3944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7635240" y="2377440"/>
            <a:ext cx="35661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F2A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“Who decided this?”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7635240" y="2971800"/>
            <a:ext cx="3566160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decision no human can defend is a decision you lose — to a client, an adjudicator or an insurer.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 the agents read, draft and calculate. The authority stays with the person whose name goes against it. Governance decisions are human here by construction, not by policy.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YOUR IT REVIEW ASKS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Built like something you have to trust.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2E3944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60120" y="235915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A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32918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runtime dependencies</a:t>
            </a:r>
            <a:endParaRPr lang="en-US" sz="125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767328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third-party to patch at 3am. Your security review will be a short one.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584448" y="214884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2E3944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3858768" y="235915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A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6,721</a:t>
            </a:r>
            <a:endParaRPr lang="en-US" sz="4400" dirty="0"/>
          </a:p>
        </p:txBody>
      </p:sp>
      <p:sp>
        <p:nvSpPr>
          <p:cNvPr id="10" name="Text 8"/>
          <p:cNvSpPr txBox="1"/>
          <p:nvPr/>
        </p:nvSpPr>
        <p:spPr>
          <a:xfrm>
            <a:off x="3858768" y="32918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tests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3858768" y="3767328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rule proved before it ships, not after a customer finds it.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83096" y="214884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2E3944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757416" y="235915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A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785</a:t>
            </a:r>
            <a:endParaRPr lang="en-US" sz="4400" dirty="0"/>
          </a:p>
        </p:txBody>
      </p:sp>
      <p:sp>
        <p:nvSpPr>
          <p:cNvPr id="14" name="Text 12"/>
          <p:cNvSpPr txBox="1"/>
          <p:nvPr/>
        </p:nvSpPr>
        <p:spPr>
          <a:xfrm>
            <a:off x="6757416" y="32918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 types, closed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757416" y="3767328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Nothing happens on your job that the record cannot name.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9381744" y="2148840"/>
            <a:ext cx="2606040" cy="3063240"/>
          </a:xfrm>
          <a:prstGeom prst="roundRect">
            <a:avLst>
              <a:gd name="adj" fmla="val 2807"/>
            </a:avLst>
          </a:prstGeom>
          <a:solidFill>
            <a:srgbClr val="2E3944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9656064" y="2359152"/>
            <a:ext cx="2057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2A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1,185</a:t>
            </a:r>
            <a:endParaRPr lang="en-US" sz="4400" dirty="0"/>
          </a:p>
        </p:txBody>
      </p:sp>
      <p:sp>
        <p:nvSpPr>
          <p:cNvPr id="18" name="Text 16"/>
          <p:cNvSpPr txBox="1"/>
          <p:nvPr/>
        </p:nvSpPr>
        <p:spPr>
          <a:xfrm>
            <a:off x="9656064" y="3291840"/>
            <a:ext cx="2057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endpoints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9656064" y="3767328"/>
            <a:ext cx="205740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data stays yours. Read all of it from your own systems.</a:t>
            </a:r>
            <a:endParaRPr lang="en-US" sz="1150" dirty="0"/>
          </a:p>
        </p:txBody>
      </p:sp>
      <p:sp>
        <p:nvSpPr>
          <p:cNvPr id="20" name="Text 18"/>
          <p:cNvSpPr txBox="1"/>
          <p:nvPr/>
        </p:nvSpPr>
        <p:spPr>
          <a:xfrm>
            <a:off x="685800" y="548640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Encrypted at rest, per customer. Second factor on every administrator. Your tenancy cannot see anybody else’s.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PERSON, OR TEN THOUSAND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From £100 a month. Same record.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2121408" cy="27889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86968" y="2340864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Trial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86968" y="2688336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Free</a:t>
            </a:r>
            <a:endParaRPr lang="en-US" sz="3000" dirty="0"/>
          </a:p>
        </p:txBody>
      </p:sp>
      <p:sp>
        <p:nvSpPr>
          <p:cNvPr id="7" name="Text 5"/>
          <p:cNvSpPr txBox="1"/>
          <p:nvPr/>
        </p:nvSpPr>
        <p:spPr>
          <a:xfrm>
            <a:off x="886968" y="331927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card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886968" y="363931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seat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886968" y="3959352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Prove it on a real job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2971800" y="2148840"/>
            <a:ext cx="2121408" cy="27889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3172968" y="2340864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3172968" y="2688336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£100</a:t>
            </a:r>
            <a:endParaRPr lang="en-US" sz="3000" dirty="0"/>
          </a:p>
        </p:txBody>
      </p:sp>
      <p:sp>
        <p:nvSpPr>
          <p:cNvPr id="13" name="Text 11"/>
          <p:cNvSpPr txBox="1"/>
          <p:nvPr/>
        </p:nvSpPr>
        <p:spPr>
          <a:xfrm>
            <a:off x="3172968" y="331927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172968" y="363931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seat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3172968" y="3959352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Sole traders and consultants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257800" y="2148840"/>
            <a:ext cx="2121408" cy="2788920"/>
          </a:xfrm>
          <a:prstGeom prst="roundRect">
            <a:avLst>
              <a:gd name="adj" fmla="val 3448"/>
            </a:avLst>
          </a:prstGeom>
          <a:solidFill>
            <a:srgbClr val="1A1F26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5458968" y="2340864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Project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458968" y="2688336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£950</a:t>
            </a:r>
            <a:endParaRPr lang="en-US" sz="3000" dirty="0"/>
          </a:p>
        </p:txBody>
      </p:sp>
      <p:sp>
        <p:nvSpPr>
          <p:cNvPr id="19" name="Text 17"/>
          <p:cNvSpPr txBox="1"/>
          <p:nvPr/>
        </p:nvSpPr>
        <p:spPr>
          <a:xfrm>
            <a:off x="5458968" y="331927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5458968" y="363931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seats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58968" y="3959352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SME contractors, first projects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7543800" y="2148840"/>
            <a:ext cx="2121408" cy="27889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23" name="Text 21"/>
          <p:cNvSpPr txBox="1"/>
          <p:nvPr/>
        </p:nvSpPr>
        <p:spPr>
          <a:xfrm>
            <a:off x="7744968" y="2340864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</a:t>
            </a:r>
            <a:endParaRPr lang="en-US" sz="1300" dirty="0"/>
          </a:p>
        </p:txBody>
      </p:sp>
      <p:sp>
        <p:nvSpPr>
          <p:cNvPr id="24" name="Text 22"/>
          <p:cNvSpPr txBox="1"/>
          <p:nvPr/>
        </p:nvSpPr>
        <p:spPr>
          <a:xfrm>
            <a:off x="7744968" y="2688336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£2,200</a:t>
            </a:r>
            <a:endParaRPr lang="en-US" sz="3000" dirty="0"/>
          </a:p>
        </p:txBody>
      </p:sp>
      <p:sp>
        <p:nvSpPr>
          <p:cNvPr id="25" name="Text 23"/>
          <p:cNvSpPr txBox="1"/>
          <p:nvPr/>
        </p:nvSpPr>
        <p:spPr>
          <a:xfrm>
            <a:off x="7744968" y="331927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050" dirty="0"/>
          </a:p>
        </p:txBody>
      </p:sp>
      <p:sp>
        <p:nvSpPr>
          <p:cNvPr id="26" name="Text 24"/>
          <p:cNvSpPr txBox="1"/>
          <p:nvPr/>
        </p:nvSpPr>
        <p:spPr>
          <a:xfrm>
            <a:off x="7744968" y="363931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seats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7744968" y="3959352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Multiple live packages, API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9829800" y="2148840"/>
            <a:ext cx="2121408" cy="2788920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29" name="Text 27"/>
          <p:cNvSpPr txBox="1"/>
          <p:nvPr/>
        </p:nvSpPr>
        <p:spPr>
          <a:xfrm>
            <a:off x="10030968" y="2340864"/>
            <a:ext cx="171907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Enterprise</a:t>
            </a:r>
            <a:endParaRPr lang="en-US" sz="1300" dirty="0"/>
          </a:p>
        </p:txBody>
      </p:sp>
      <p:sp>
        <p:nvSpPr>
          <p:cNvPr id="30" name="Text 28"/>
          <p:cNvSpPr txBox="1"/>
          <p:nvPr/>
        </p:nvSpPr>
        <p:spPr>
          <a:xfrm>
            <a:off x="10030968" y="2688336"/>
            <a:ext cx="1719072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£6,500</a:t>
            </a:r>
            <a:endParaRPr lang="en-US" sz="3000" dirty="0"/>
          </a:p>
        </p:txBody>
      </p:sp>
      <p:sp>
        <p:nvSpPr>
          <p:cNvPr id="31" name="Text 29"/>
          <p:cNvSpPr txBox="1"/>
          <p:nvPr/>
        </p:nvSpPr>
        <p:spPr>
          <a:xfrm>
            <a:off x="10030968" y="3319272"/>
            <a:ext cx="17190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month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10030968" y="3639312"/>
            <a:ext cx="17190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Unlimited</a:t>
            </a:r>
            <a:endParaRPr lang="en-US" sz="1200" dirty="0"/>
          </a:p>
        </p:txBody>
      </p:sp>
      <p:sp>
        <p:nvSpPr>
          <p:cNvPr id="33" name="Text 31"/>
          <p:cNvSpPr txBox="1"/>
          <p:nvPr/>
        </p:nvSpPr>
        <p:spPr>
          <a:xfrm>
            <a:off x="10030968" y="3959352"/>
            <a:ext cx="171907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 1, isolated tenancy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85800" y="5138928"/>
            <a:ext cx="10789920" cy="1024128"/>
          </a:xfrm>
          <a:prstGeom prst="roundRect">
            <a:avLst>
              <a:gd name="adj" fmla="val 7143"/>
            </a:avLst>
          </a:prstGeom>
          <a:solidFill>
            <a:srgbClr val="1A1F26"/>
          </a:solidFill>
          <a:ln/>
        </p:spPr>
      </p:sp>
      <p:sp>
        <p:nvSpPr>
          <p:cNvPr id="35" name="Text 33"/>
          <p:cNvSpPr txBox="1"/>
          <p:nvPr/>
        </p:nvSpPr>
        <p:spPr>
          <a:xfrm>
            <a:off x="1143000" y="5321808"/>
            <a:ext cx="9875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Put the whole supply chain on it. Pay only for the people who decide.</a:t>
            </a:r>
            <a:endParaRPr lang="en-US" sz="1800" dirty="0"/>
          </a:p>
        </p:txBody>
      </p:sp>
      <p:sp>
        <p:nvSpPr>
          <p:cNvPr id="36" name="Text 34"/>
          <p:cNvSpPr txBox="1"/>
          <p:nvPr/>
        </p:nvSpPr>
        <p:spPr>
          <a:xfrm>
            <a:off x="1143000" y="5705856"/>
            <a:ext cx="9875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A8B2B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Site, quality, design and trade participants are admitted without a seat. Every package includes AI credit worth 20% of its price.</a:t>
            </a:r>
            <a:endParaRPr lang="en-US" sz="11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A1F2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ASK, AND BEFORE YOU SIGN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will not pretend.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148840"/>
            <a:ext cx="10789920" cy="1024128"/>
          </a:xfrm>
          <a:prstGeom prst="roundRect">
            <a:avLst>
              <a:gd name="adj" fmla="val 7143"/>
            </a:avLst>
          </a:prstGeom>
          <a:solidFill>
            <a:srgbClr val="2E3944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1051560" y="2295144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independent penetration test yet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212080" y="2295144"/>
            <a:ext cx="5989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Encryption at rest, second factor, device binding and tenant isolation are built and tested. An outside test is not done, and we will not imply it is.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685800" y="3319272"/>
            <a:ext cx="10789920" cy="1024128"/>
          </a:xfrm>
          <a:prstGeom prst="roundRect">
            <a:avLst>
              <a:gd name="adj" fmla="val 7143"/>
            </a:avLst>
          </a:prstGeom>
          <a:solidFill>
            <a:srgbClr val="2E3944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1051560" y="3465576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region, manual failover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5212080" y="3465576"/>
            <a:ext cx="5989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record is backed up off the host and a new host comes up from it — but a person starts it. So we sell you no uptime guarantee.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85800" y="4489704"/>
            <a:ext cx="10789920" cy="1024128"/>
          </a:xfrm>
          <a:prstGeom prst="roundRect">
            <a:avLst>
              <a:gd name="adj" fmla="val 7143"/>
            </a:avLst>
          </a:prstGeom>
          <a:solidFill>
            <a:srgbClr val="2E3944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1051560" y="4636008"/>
            <a:ext cx="39319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native mobile app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5212080" y="4636008"/>
            <a:ext cx="5989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site app installs on a phone, works offline and syncs. There is no App Store build, and we do not claim one.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685800" y="5806440"/>
            <a:ext cx="10789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i="1" dirty="0">
                <a:solidFill>
                  <a:srgbClr val="A8B2B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Anyone who names the limits before you sign will name the problem when it happens.</a:t>
            </a:r>
            <a:endParaRPr lang="en-US" sz="17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85800" y="384048"/>
            <a:ext cx="10789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2A8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FORM, NO DEMO BOOKING, NO SALES PROCESS</a:t>
            </a:r>
            <a:endParaRPr lang="en-US" sz="1100" dirty="0"/>
          </a:p>
        </p:txBody>
      </p:sp>
      <p:sp>
        <p:nvSpPr>
          <p:cNvPr id="3" name="Text 1"/>
          <p:cNvSpPr txBox="1"/>
          <p:nvPr/>
        </p:nvSpPr>
        <p:spPr>
          <a:xfrm>
            <a:off x="685800" y="713232"/>
            <a:ext cx="10789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Walk a live job before you talk to us.</a:t>
            </a:r>
            <a:endParaRPr lang="en-US" sz="4000" dirty="0"/>
          </a:p>
        </p:txBody>
      </p:sp>
      <p:sp>
        <p:nvSpPr>
          <p:cNvPr id="4" name="Shape 2"/>
          <p:cNvSpPr/>
          <p:nvPr/>
        </p:nvSpPr>
        <p:spPr>
          <a:xfrm>
            <a:off x="685800" y="224028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78408" y="2514600"/>
            <a:ext cx="384048" cy="38404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78408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78408" y="3063240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See it now</a:t>
            </a:r>
            <a:endParaRPr lang="en-US" sz="2100" dirty="0"/>
          </a:p>
        </p:txBody>
      </p:sp>
      <p:sp>
        <p:nvSpPr>
          <p:cNvPr id="8" name="Text 6"/>
          <p:cNvSpPr txBox="1"/>
          <p:nvPr/>
        </p:nvSpPr>
        <p:spPr>
          <a:xfrm>
            <a:off x="978408" y="3538728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real programme, real notices, real money, in your browser. No signup and no card.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507992" y="224028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800600" y="2514600"/>
            <a:ext cx="384048" cy="38404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800600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00600" y="3063240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Then start free</a:t>
            </a:r>
            <a:endParaRPr lang="en-US" sz="2100" dirty="0"/>
          </a:p>
        </p:txBody>
      </p:sp>
      <p:sp>
        <p:nvSpPr>
          <p:cNvPr id="13" name="Text 11"/>
          <p:cNvSpPr txBox="1"/>
          <p:nvPr/>
        </p:nvSpPr>
        <p:spPr>
          <a:xfrm>
            <a:off x="4800600" y="3538728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seat, your own tenancy, your own job. Upgrade only when it has earned it.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330184" y="2240280"/>
            <a:ext cx="3429000" cy="2148840"/>
          </a:xfrm>
          <a:prstGeom prst="roundRect">
            <a:avLst>
              <a:gd name="adj" fmla="val 340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27000" dist="25400" dir="5400000">
              <a:srgbClr val="000000">
                <a:alpha val="12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622792" y="2514600"/>
            <a:ext cx="384048" cy="384048"/>
          </a:xfrm>
          <a:prstGeom prst="ellipse">
            <a:avLst/>
          </a:prstGeom>
          <a:solidFill>
            <a:srgbClr val="F2A81D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622792" y="25146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A1F2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8622792" y="3063240"/>
            <a:ext cx="2843784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100" b="1" dirty="0">
                <a:solidFill>
                  <a:srgbClr val="1A1F2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Call us last</a:t>
            </a:r>
            <a:endParaRPr lang="en-US" sz="2100" dirty="0"/>
          </a:p>
        </p:txBody>
      </p:sp>
      <p:sp>
        <p:nvSpPr>
          <p:cNvPr id="18" name="Text 16"/>
          <p:cNvSpPr txBox="1"/>
          <p:nvPr/>
        </p:nvSpPr>
        <p:spPr>
          <a:xfrm>
            <a:off x="8622792" y="3538728"/>
            <a:ext cx="284378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5A65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Twenty minutes, once you already know whether you want it.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4754880"/>
            <a:ext cx="10789920" cy="1325880"/>
          </a:xfrm>
          <a:prstGeom prst="roundRect">
            <a:avLst>
              <a:gd name="adj" fmla="val 5517"/>
            </a:avLst>
          </a:prstGeom>
          <a:solidFill>
            <a:srgbClr val="1A1F26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1143000" y="5056632"/>
            <a:ext cx="5486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2A81D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construxvg.com</a:t>
            </a:r>
            <a:endParaRPr lang="en-US" sz="2800" dirty="0"/>
          </a:p>
        </p:txBody>
      </p:sp>
      <p:sp>
        <p:nvSpPr>
          <p:cNvPr id="21" name="Text 19"/>
          <p:cNvSpPr txBox="1"/>
          <p:nvPr/>
        </p:nvSpPr>
        <p:spPr>
          <a:xfrm>
            <a:off x="5852160" y="5193792"/>
            <a:ext cx="5577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losing money you have already earned.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CONSTRUX — Stop losing money you have already earned</dc:title>
  <dc:subject>PptxGenJS Presentation</dc:subject>
  <dc:creator>CONSTRUX</dc:creator>
  <cp:lastModifiedBy>CONSTRUX</cp:lastModifiedBy>
  <cp:revision>1</cp:revision>
  <dcterms:created xsi:type="dcterms:W3CDTF">2026-09-12T11:56:54Z</dcterms:created>
  <dcterms:modified xsi:type="dcterms:W3CDTF">2026-09-12T11:56:54Z</dcterms:modified>
</cp:coreProperties>
</file>