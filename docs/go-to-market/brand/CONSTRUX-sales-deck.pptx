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ledger, not on the AI. The ledger is the thing nobody else can retrofit; the AI is what forty other vendors also claim. Say the title sentence out loud and stop. Do not explain it yet — the next two slides earn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symptoms, met on project after project across twenty years. Let them recognise their own last job before you show them anything.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wedge: a buyer who is compelled, has a date, and has no good option. Do not soften it and do not oversell it — read the list and let it land.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Never rubbish the incumbent by name. The argument is architectural, not commercial: they cannot do this without rebuilding, and that is a fact about software, not a slur.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all three live. If the room only remembers one thing, make it the tamper demo — it is the moment the product stops being a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“AI in a safety-critical record? Absolutely not.” — Agreed. Then show them the catalogue refusing an AI-authored approval. This objection closes itself if you demo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when the room is commercial rather than technical. The Act gets you the meeting; this gets you the signature.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“Our site teams won’t use it.” — This is the answer. Show the installed PWA on your own phone, in aeroplane mode, and capture a diary entry.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“Too expensive for one project.” — Core Project is £950 a month. One disputed payment notice costs more than a year of it. Say the number without flinching.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bluff certifications. If asked about ISO 27001, say exactly where it stands and offer the pen test report. Bluffing here loses the deal at procurement, not in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the building, not for the meeting. A named building turns a demo into a pilot, and a pilot is the only thing that converts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4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PROJECT_CREATED  →  …  →  HANDOVER_ACCEPTED     chain head sha256:4f9c1e…a37b     verified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41732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700" kern="0" dirty="0">
                <a:solidFill>
                  <a:srgbClr val="ED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</a:t>
            </a:r>
            <a:pPr indent="0" marL="0">
              <a:buNone/>
            </a:pPr>
            <a:r>
              <a:rPr lang="en-US" sz="5400" b="1" spc="700" kern="0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2514600"/>
            <a:ext cx="8778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spc="-120" kern="0" dirty="0">
                <a:solidFill>
                  <a:srgbClr val="ED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record that cannot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spc="-120" kern="0" dirty="0">
                <a:solidFill>
                  <a:srgbClr val="ED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argued with.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43434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7AF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governed record of a project — concept to the thirtieth year — on an append-only, hash-chained ledger. Every entry attributable. Every state replayable. Tampering detected, not just discouraged.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5532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8A96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construction operating system  ·  construxvg.com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4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join between systems is where the money goes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310896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566928"/>
            <a:ext cx="1087495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800" b="1" spc="-60" kern="0" dirty="0">
                <a:solidFill>
                  <a:srgbClr val="ED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loses money because</a:t>
            </a:r>
            <a:endParaRPr lang="en-US" sz="38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800" b="1" spc="-60" kern="0" dirty="0">
                <a:solidFill>
                  <a:srgbClr val="ED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did not work hard.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011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A7AF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lose it because the record of what was agreed, when, and on what basis is scattered across email, spreadsheets and somebody’s memory of a site meeting.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" y="2971800"/>
            <a:ext cx="3291840" cy="2514600"/>
          </a:xfrm>
          <a:prstGeom prst="roundRect">
            <a:avLst>
              <a:gd name="adj" fmla="val 2909"/>
            </a:avLst>
          </a:prstGeom>
          <a:solidFill>
            <a:srgbClr val="181B21"/>
          </a:solidFill>
          <a:ln w="9525">
            <a:solidFill>
              <a:srgbClr val="292E37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3218688"/>
            <a:ext cx="475488" cy="475488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2186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0A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840480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D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Late, not missing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462272"/>
            <a:ext cx="27797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7AF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revision that changed the pipework interface was issued on time — and reached the people pouring concrete a fortnight after they needed it.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70248" y="2971800"/>
            <a:ext cx="3291840" cy="2514600"/>
          </a:xfrm>
          <a:prstGeom prst="roundRect">
            <a:avLst>
              <a:gd name="adj" fmla="val 2909"/>
            </a:avLst>
          </a:prstGeom>
          <a:solidFill>
            <a:srgbClr val="181B21"/>
          </a:solidFill>
          <a:ln w="9525">
            <a:solidFill>
              <a:srgbClr val="292E37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6280" y="3218688"/>
            <a:ext cx="475488" cy="475488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26280" y="32186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0A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3840480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D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found after it cost money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4462272"/>
            <a:ext cx="27797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7AF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register reviewed monthly finds a risk that landed three weeks ago. By then it is not a risk. It is a variation, and the argument is about who pays.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882128" y="2971800"/>
            <a:ext cx="3291840" cy="2514600"/>
          </a:xfrm>
          <a:prstGeom prst="roundRect">
            <a:avLst>
              <a:gd name="adj" fmla="val 2909"/>
            </a:avLst>
          </a:prstGeom>
          <a:solidFill>
            <a:srgbClr val="181B21"/>
          </a:solidFill>
          <a:ln w="9525">
            <a:solidFill>
              <a:srgbClr val="292E37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38160" y="3218688"/>
            <a:ext cx="475488" cy="475488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138160" y="32186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0A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138160" y="3840480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D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best people, chasing updates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138160" y="4462272"/>
            <a:ext cx="27797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7AF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expensive managers on the job, reduced to a human integration layer between systems that will not talk to each other.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4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Building Safety Act 2022  ·  golden thread  ·  digital, structured, attributable, immutable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310896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566928"/>
            <a:ext cx="1087495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spc="-60" kern="0" dirty="0">
                <a:solidFill>
                  <a:srgbClr val="ED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one is not a preference.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spc="-60" kern="0" dirty="0">
                <a:solidFill>
                  <a:srgbClr val="ED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a statutory duty with a date.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58368" y="2331720"/>
            <a:ext cx="5029200" cy="3063240"/>
          </a:xfrm>
          <a:prstGeom prst="roundRect">
            <a:avLst>
              <a:gd name="adj" fmla="val 2388"/>
            </a:avLst>
          </a:prstGeom>
          <a:solidFill>
            <a:srgbClr val="181B21"/>
          </a:solidFill>
          <a:ln w="9525">
            <a:solidFill>
              <a:srgbClr val="292E37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24128" y="260604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0" b="1" spc="-200" kern="0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12,500</a:t>
            </a:r>
            <a:endParaRPr lang="en-US" sz="68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363931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D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higher-risk buildings in England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4041648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7AF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Broadly: residential at 18m or seven storeys with two or more units, plus care homes and hospitals in scope at design and construction. Duty-holders must produce the golden thread at every Gateway.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53328" y="2331720"/>
            <a:ext cx="5029200" cy="3063240"/>
          </a:xfrm>
          <a:prstGeom prst="roundRect">
            <a:avLst>
              <a:gd name="adj" fmla="val 2388"/>
            </a:avLst>
          </a:prstGeom>
          <a:solidFill>
            <a:srgbClr val="181B21"/>
          </a:solidFill>
          <a:ln w="9525">
            <a:solidFill>
              <a:srgbClr val="292E37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19088" y="26060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guidance asks of the software itself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19088" y="306324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D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entry attributable to a named user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D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Timestamped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D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Immutable, with historical states preserved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D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 isolation, documented encryption, UK residency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D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independent penetration testing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19088" y="464515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i="1" dirty="0">
                <a:solidFill>
                  <a:srgbClr val="ED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a specification of our architecture, published by somebody else.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4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change log on a mutable file is not an immutable record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310896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DIFFERENCE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566928"/>
            <a:ext cx="1087495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spc="-60" kern="0" dirty="0">
                <a:solidFill>
                  <a:srgbClr val="ED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history is a change log.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spc="-60" kern="0" dirty="0">
                <a:solidFill>
                  <a:srgbClr val="ED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not an immutable record.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93852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AF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Retrofitting an append-only ledger under a CDE built on mutable documents is not a feature. It is a rewrite.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675888" y="241401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8A96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VENDOR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379208" y="241401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CONSTRUX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12064" y="2706624"/>
            <a:ext cx="11167567" cy="603504"/>
          </a:xfrm>
          <a:prstGeom prst="rect">
            <a:avLst/>
          </a:prstGeom>
          <a:solidFill>
            <a:srgbClr val="181B2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2761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Attributable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3675888" y="276148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6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stamped on a document version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379208" y="276148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8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state change is an event with a named actor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34198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675888" y="341985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6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history you can delete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379208" y="3419856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8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Hash-chained, append-only. Nothing is edited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12064" y="4023360"/>
            <a:ext cx="11167567" cy="603504"/>
          </a:xfrm>
          <a:prstGeom prst="rect">
            <a:avLst/>
          </a:prstGeom>
          <a:solidFill>
            <a:srgbClr val="181B2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" y="407822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Tamper-evident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3675888" y="407822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6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claimed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379208" y="4078224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8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 detects alteration and names the event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47365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Separation of duties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3675888" y="473659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6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 workflow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379208" y="473659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8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Refused, not warned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12064" y="5340096"/>
            <a:ext cx="11167567" cy="603504"/>
          </a:xfrm>
          <a:prstGeom prst="rect">
            <a:avLst/>
          </a:prstGeom>
          <a:solidFill>
            <a:srgbClr val="181B2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" y="5394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governance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3675888" y="53949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6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“AI-powered”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7379208" y="53949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8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agent can approve anything, by construction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4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the replay  ·  root hash moves  ·  the event is named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310896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DEMO, IN ORDER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566928"/>
            <a:ext cx="1087495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800" b="1" spc="-60" kern="0" dirty="0">
                <a:solidFill>
                  <a:srgbClr val="ED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 nobody else</a:t>
            </a:r>
            <a:endParaRPr lang="en-US" sz="38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800" b="1" spc="-60" kern="0" dirty="0">
                <a:solidFill>
                  <a:srgbClr val="ED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do on stage.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58368" y="2331720"/>
            <a:ext cx="566928" cy="566928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0A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27048" y="228600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D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Tamper. Then catch it.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1527048" y="2688336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A7AF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 a record in front of them. Run the replay. The root hash moves and the platform names the exact event that changed.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58368" y="3502152"/>
            <a:ext cx="566928" cy="566928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35021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0A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27048" y="3456432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D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 as the regulator.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1527048" y="3858768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A7AF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write control disappears. The export still works. Read-only oversight is architectural, not a checkbox somebody ticked.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8368" y="4672584"/>
            <a:ext cx="566928" cy="566928"/>
          </a:xfrm>
          <a:prstGeom prst="ellipse">
            <a:avLst/>
          </a:prstGeom>
          <a:solidFill>
            <a:srgbClr val="FF6A1A"/>
          </a:solidFill>
          <a:ln w="12700">
            <a:solidFill>
              <a:srgbClr val="FF6A1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" y="46725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0A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527048" y="4626864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D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Certify your own application.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1527048" y="5029200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A7AF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refuses. Separation of duties is enforced in the event catalogue, not advised in a workflow.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574243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8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then show the AI. Lead with the ledger and the AI becomes credible because it cannot act alone.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4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aiAllowed:false on every decision event  ·  no mandate exceeds PROPOSE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310896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AI, GOVERNED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566928"/>
            <a:ext cx="1087495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800" b="1" spc="-60" kern="0" dirty="0">
                <a:solidFill>
                  <a:srgbClr val="ED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propose.</a:t>
            </a:r>
            <a:endParaRPr lang="en-US" sz="38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800" b="1" spc="-60" kern="0" dirty="0">
                <a:solidFill>
                  <a:srgbClr val="ED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named human decides.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0116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A7AF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Eighty-one agents read the project and raise work. Not one of them can approve anything — the event catalogue refuses an AI-authored approval outright, and no agent mandate exceeds PROPOSE.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" y="3017520"/>
            <a:ext cx="2514600" cy="1645920"/>
          </a:xfrm>
          <a:prstGeom prst="roundRect">
            <a:avLst>
              <a:gd name="adj" fmla="val 4444"/>
            </a:avLst>
          </a:prstGeom>
          <a:solidFill>
            <a:srgbClr val="181B21"/>
          </a:solidFill>
          <a:ln w="9525">
            <a:solidFill>
              <a:srgbClr val="292E37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96112" y="3200400"/>
            <a:ext cx="2039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spc="-150" kern="0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3950208"/>
            <a:ext cx="2039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7AF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across every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7AF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area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29000" y="3017520"/>
            <a:ext cx="2514600" cy="1645920"/>
          </a:xfrm>
          <a:prstGeom prst="roundRect">
            <a:avLst>
              <a:gd name="adj" fmla="val 4444"/>
            </a:avLst>
          </a:prstGeom>
          <a:solidFill>
            <a:srgbClr val="181B21"/>
          </a:solidFill>
          <a:ln w="9525">
            <a:solidFill>
              <a:srgbClr val="292E37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666744" y="3200400"/>
            <a:ext cx="2039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spc="-150" kern="0" dirty="0">
                <a:solidFill>
                  <a:srgbClr val="2EB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600" dirty="0"/>
          </a:p>
        </p:txBody>
      </p:sp>
      <p:sp>
        <p:nvSpPr>
          <p:cNvPr id="11" name="Text 9"/>
          <p:cNvSpPr txBox="1"/>
          <p:nvPr/>
        </p:nvSpPr>
        <p:spPr>
          <a:xfrm>
            <a:off x="3666744" y="3950208"/>
            <a:ext cx="2039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7AF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can approve,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7AF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certify or sign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99632" y="3017520"/>
            <a:ext cx="2514600" cy="1645920"/>
          </a:xfrm>
          <a:prstGeom prst="roundRect">
            <a:avLst>
              <a:gd name="adj" fmla="val 4444"/>
            </a:avLst>
          </a:prstGeom>
          <a:solidFill>
            <a:srgbClr val="181B21"/>
          </a:solidFill>
          <a:ln w="9525">
            <a:solidFill>
              <a:srgbClr val="292E37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37376" y="3200400"/>
            <a:ext cx="2039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spc="-150" kern="0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600" dirty="0"/>
          </a:p>
        </p:txBody>
      </p:sp>
      <p:sp>
        <p:nvSpPr>
          <p:cNvPr id="14" name="Text 12"/>
          <p:cNvSpPr txBox="1"/>
          <p:nvPr/>
        </p:nvSpPr>
        <p:spPr>
          <a:xfrm>
            <a:off x="6437376" y="3950208"/>
            <a:ext cx="2039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7AF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AI spend priced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7AF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commit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970264" y="3017520"/>
            <a:ext cx="2514600" cy="1645920"/>
          </a:xfrm>
          <a:prstGeom prst="roundRect">
            <a:avLst>
              <a:gd name="adj" fmla="val 4444"/>
            </a:avLst>
          </a:prstGeom>
          <a:solidFill>
            <a:srgbClr val="181B21"/>
          </a:solidFill>
          <a:ln w="9525">
            <a:solidFill>
              <a:srgbClr val="292E37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208008" y="3200400"/>
            <a:ext cx="2039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spc="-150" kern="0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</a:t>
            </a:r>
            <a:endParaRPr lang="en-US" sz="4600" dirty="0"/>
          </a:p>
        </p:txBody>
      </p:sp>
      <p:sp>
        <p:nvSpPr>
          <p:cNvPr id="17" name="Text 15"/>
          <p:cNvSpPr txBox="1"/>
          <p:nvPr/>
        </p:nvSpPr>
        <p:spPr>
          <a:xfrm>
            <a:off x="9208008" y="3950208"/>
            <a:ext cx="2039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7AF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names its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7AF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and its gaps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54406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D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AI action runs without showing its estimated cost first — and the wallet is prepaid, so it cannot run away with your money.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4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PAYMENT_CERTIFIED  ·  over-certification refused  ·  withholding requires a reason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310896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SECOND WEDGE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566928"/>
            <a:ext cx="1087495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800" b="1" spc="-60" kern="0" dirty="0">
                <a:solidFill>
                  <a:srgbClr val="ED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opens the door.</a:t>
            </a:r>
            <a:endParaRPr lang="en-US" sz="38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800" b="1" spc="-60" kern="0" dirty="0">
                <a:solidFill>
                  <a:srgbClr val="ED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Cashflow closes the deal.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05740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A7AF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every buyer cares about the Act. Every buyer cares about being paid. The statutory payment regime is date-driven and unforgiving, and the platform computes the dates rather than reminding you to.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12064" y="2990088"/>
            <a:ext cx="7680960" cy="566928"/>
          </a:xfrm>
          <a:prstGeom prst="rect">
            <a:avLst/>
          </a:prstGeom>
          <a:solidFill>
            <a:srgbClr val="181B2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30449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Over-certification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407408" y="304495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FE5D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REFUSED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12064" y="3648456"/>
            <a:ext cx="7680960" cy="566928"/>
          </a:xfrm>
          <a:prstGeom prst="rect">
            <a:avLst/>
          </a:prstGeom>
          <a:solidFill>
            <a:srgbClr val="11131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3703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certification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407408" y="3703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FE5D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REFUSED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12064" y="4306824"/>
            <a:ext cx="7680960" cy="566928"/>
          </a:xfrm>
          <a:prstGeom prst="rect">
            <a:avLst/>
          </a:prstGeom>
          <a:solidFill>
            <a:srgbClr val="181B2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43616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Overpayment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407408" y="43616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FE5D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REFUSED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12064" y="4965192"/>
            <a:ext cx="7680960" cy="566928"/>
          </a:xfrm>
          <a:prstGeom prst="rect">
            <a:avLst/>
          </a:prstGeom>
          <a:solidFill>
            <a:srgbClr val="11131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" y="502005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withheld sum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407408" y="502005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FF85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MUST CARRY A REASON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613648" y="2990088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181B21"/>
          </a:solidFill>
          <a:ln w="9525">
            <a:solidFill>
              <a:srgbClr val="292E37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842248" y="3310128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i="1" dirty="0">
                <a:solidFill>
                  <a:srgbClr val="ED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“One disputed payment notice costs more than a year of the licence.”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842248" y="459028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A96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line that closes commercial directors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4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 runtime dependencies  ·  6,364 tests passing  ·  typecheck clean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310896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ACTUALLY BUILT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566928"/>
            <a:ext cx="1087495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800" b="1" spc="-60" kern="0" dirty="0">
                <a:solidFill>
                  <a:srgbClr val="ED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roadmap.</a:t>
            </a:r>
            <a:endParaRPr lang="en-US" sz="38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800" b="1" spc="-60" kern="0" dirty="0">
                <a:solidFill>
                  <a:srgbClr val="ED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running platform.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58368" y="2286000"/>
            <a:ext cx="2514600" cy="2194560"/>
          </a:xfrm>
          <a:prstGeom prst="roundRect">
            <a:avLst>
              <a:gd name="adj" fmla="val 3333"/>
            </a:avLst>
          </a:prstGeom>
          <a:solidFill>
            <a:srgbClr val="181B21"/>
          </a:solidFill>
          <a:ln w="9525">
            <a:solidFill>
              <a:srgbClr val="292E37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96112" y="2487168"/>
            <a:ext cx="2039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40" kern="0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1,135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3127248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D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ROUTES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3456432"/>
            <a:ext cx="20391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7AF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777 writes, 358 reads — every one authorised server-side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29000" y="2286000"/>
            <a:ext cx="2514600" cy="2194560"/>
          </a:xfrm>
          <a:prstGeom prst="roundRect">
            <a:avLst>
              <a:gd name="adj" fmla="val 3333"/>
            </a:avLst>
          </a:prstGeom>
          <a:solidFill>
            <a:srgbClr val="181B21"/>
          </a:solidFill>
          <a:ln w="9525">
            <a:solidFill>
              <a:srgbClr val="292E37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666744" y="2487168"/>
            <a:ext cx="2039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40" kern="0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761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3666744" y="3127248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D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TYPES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666744" y="3456432"/>
            <a:ext cx="20391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7AF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closed catalogue. Nothing writes a state the catalogue does not name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99632" y="2286000"/>
            <a:ext cx="2514600" cy="2194560"/>
          </a:xfrm>
          <a:prstGeom prst="roundRect">
            <a:avLst>
              <a:gd name="adj" fmla="val 3333"/>
            </a:avLst>
          </a:prstGeom>
          <a:solidFill>
            <a:srgbClr val="181B21"/>
          </a:solidFill>
          <a:ln w="9525">
            <a:solidFill>
              <a:srgbClr val="292E37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37376" y="2487168"/>
            <a:ext cx="2039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40" kern="0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6437376" y="3127248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D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 STAGES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37376" y="3456432"/>
            <a:ext cx="20391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7AF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Concept, design, tender, construction, commissioning, handover, thirty years of operation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970264" y="2286000"/>
            <a:ext cx="2514600" cy="2194560"/>
          </a:xfrm>
          <a:prstGeom prst="roundRect">
            <a:avLst>
              <a:gd name="adj" fmla="val 3333"/>
            </a:avLst>
          </a:prstGeom>
          <a:solidFill>
            <a:srgbClr val="181B21"/>
          </a:solidFill>
          <a:ln w="9525">
            <a:solidFill>
              <a:srgbClr val="292E37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208008" y="2487168"/>
            <a:ext cx="2039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40" kern="0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6,364</a:t>
            </a:r>
            <a:endParaRPr lang="en-US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9208008" y="3127248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D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PASSING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9208008" y="3456432"/>
            <a:ext cx="20391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7AF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Including invariants that fail the build if a screen or a door goes missing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54406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8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Installs to the home screen. Works with no signal. The site diary is four fields.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4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 month  ·  cancel from the console  ·  your record exports as a signed, hash-verified event log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310896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566928"/>
            <a:ext cx="1087495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spc="-60" kern="0" dirty="0">
                <a:solidFill>
                  <a:srgbClr val="ED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on one project.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spc="-60" kern="0" dirty="0">
                <a:solidFill>
                  <a:srgbClr val="ED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on a transformation programme.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58368" y="2377440"/>
            <a:ext cx="2514600" cy="2697480"/>
          </a:xfrm>
          <a:prstGeom prst="roundRect">
            <a:avLst>
              <a:gd name="adj" fmla="val 2909"/>
            </a:avLst>
          </a:prstGeom>
          <a:solidFill>
            <a:srgbClr val="181B21"/>
          </a:solidFill>
          <a:ln w="9525">
            <a:solidFill>
              <a:srgbClr val="292E37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96112" y="2798064"/>
            <a:ext cx="2039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D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3127248"/>
            <a:ext cx="2039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120" kern="0" dirty="0">
                <a:solidFill>
                  <a:srgbClr val="ED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£100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3749040"/>
            <a:ext cx="2039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6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month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4023360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8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seat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4334256"/>
            <a:ext cx="2039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7AF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Sole traders and single-project consultants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29000" y="2377440"/>
            <a:ext cx="2514600" cy="2697480"/>
          </a:xfrm>
          <a:prstGeom prst="roundRect">
            <a:avLst>
              <a:gd name="adj" fmla="val 2909"/>
            </a:avLst>
          </a:prstGeom>
          <a:solidFill>
            <a:srgbClr val="292E37"/>
          </a:solidFill>
          <a:ln w="9525">
            <a:solidFill>
              <a:srgbClr val="292E37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666744" y="2542032"/>
            <a:ext cx="2039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START HERE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3666744" y="2798064"/>
            <a:ext cx="2039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D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Project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666744" y="3127248"/>
            <a:ext cx="2039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120" kern="0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£950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3666744" y="3749040"/>
            <a:ext cx="2039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6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month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666744" y="4023360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8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seats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666744" y="4334256"/>
            <a:ext cx="2039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7AF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 contractors and pilot projects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99632" y="2377440"/>
            <a:ext cx="2514600" cy="2697480"/>
          </a:xfrm>
          <a:prstGeom prst="roundRect">
            <a:avLst>
              <a:gd name="adj" fmla="val 2909"/>
            </a:avLst>
          </a:prstGeom>
          <a:solidFill>
            <a:srgbClr val="181B21"/>
          </a:solidFill>
          <a:ln w="9525">
            <a:solidFill>
              <a:srgbClr val="292E37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437376" y="2798064"/>
            <a:ext cx="2039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D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37376" y="3127248"/>
            <a:ext cx="2039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120" kern="0" dirty="0">
                <a:solidFill>
                  <a:srgbClr val="ED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£2,200</a:t>
            </a:r>
            <a:endParaRPr lang="en-US" sz="3600" dirty="0"/>
          </a:p>
        </p:txBody>
      </p:sp>
      <p:sp>
        <p:nvSpPr>
          <p:cNvPr id="21" name="Text 19"/>
          <p:cNvSpPr txBox="1"/>
          <p:nvPr/>
        </p:nvSpPr>
        <p:spPr>
          <a:xfrm>
            <a:off x="6437376" y="3749040"/>
            <a:ext cx="2039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6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month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437376" y="4023360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8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seats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437376" y="4334256"/>
            <a:ext cx="2039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7AF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contractors running multiple packages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970264" y="2377440"/>
            <a:ext cx="2514600" cy="2697480"/>
          </a:xfrm>
          <a:prstGeom prst="roundRect">
            <a:avLst>
              <a:gd name="adj" fmla="val 2909"/>
            </a:avLst>
          </a:prstGeom>
          <a:solidFill>
            <a:srgbClr val="181B21"/>
          </a:solidFill>
          <a:ln w="9525">
            <a:solidFill>
              <a:srgbClr val="292E37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208008" y="2798064"/>
            <a:ext cx="2039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D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208008" y="3127248"/>
            <a:ext cx="2039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120" kern="0" dirty="0">
                <a:solidFill>
                  <a:srgbClr val="ED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£6,500</a:t>
            </a:r>
            <a:endParaRPr lang="en-US" sz="3600" dirty="0"/>
          </a:p>
        </p:txBody>
      </p:sp>
      <p:sp>
        <p:nvSpPr>
          <p:cNvPr id="27" name="Text 25"/>
          <p:cNvSpPr txBox="1"/>
          <p:nvPr/>
        </p:nvSpPr>
        <p:spPr>
          <a:xfrm>
            <a:off x="9208008" y="3749040"/>
            <a:ext cx="2039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6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month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208008" y="4023360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8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9208008" y="4334256"/>
            <a:ext cx="2039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7AF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 and multi-portfolio, isolated tenancy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58368" y="5321808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7AF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supervisor seats £70. Subcontractor access £25. AI is prepaid and priced before every run — never a surprise line on an invoice.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4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export: signed, hash-verified event log  ·  escrow in the contract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310896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YOU WILL ALWAYS BE ASKED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566928"/>
            <a:ext cx="1087495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800" b="1" spc="-60" kern="0" dirty="0">
                <a:solidFill>
                  <a:srgbClr val="ED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Answered plainly.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58368" y="1965960"/>
            <a:ext cx="10874959" cy="1627632"/>
          </a:xfrm>
          <a:prstGeom prst="roundRect">
            <a:avLst>
              <a:gd name="adj" fmla="val 4494"/>
            </a:avLst>
          </a:prstGeom>
          <a:solidFill>
            <a:srgbClr val="181B21"/>
          </a:solidFill>
          <a:ln w="9525">
            <a:solidFill>
              <a:srgbClr val="292E37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24128" y="2221992"/>
            <a:ext cx="10143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8A96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“We already have Procore, Asite, Viewpoint.”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2679192"/>
            <a:ext cx="101434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D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it. We are not your CDE. We are the governed record underneath it — and we can start on one building without touching the rest of your estate.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" y="3886200"/>
            <a:ext cx="10874959" cy="1627632"/>
          </a:xfrm>
          <a:prstGeom prst="roundRect">
            <a:avLst>
              <a:gd name="adj" fmla="val 4494"/>
            </a:avLst>
          </a:prstGeom>
          <a:solidFill>
            <a:srgbClr val="181B21"/>
          </a:solidFill>
          <a:ln w="9525">
            <a:solidFill>
              <a:srgbClr val="292E37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024128" y="4142232"/>
            <a:ext cx="10143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8A96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“You are a startup. What if you disappear?”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4599432"/>
            <a:ext cx="101434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D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record exports at any time as a signed, hash-verified event log, and escrow is in the contract. You are not renting your compliance evidence from us.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585216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7AF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by Justin Nseya, MCIOB — from twenty years of meeting the same failure on project after project. It was not designed from a market gap.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169164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800" b="1" spc="-120" kern="0" dirty="0">
                <a:solidFill>
                  <a:srgbClr val="ED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Fifteen minutes.</a:t>
            </a:r>
            <a:endParaRPr lang="en-US" sz="48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4800" b="1" spc="-120" kern="0" dirty="0">
                <a:solidFill>
                  <a:srgbClr val="ED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project. Your record.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361188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A7AF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will take one of your buildings, stand the record up in front of you, alter it on purpose, and let the platform catch us.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58368" y="4617720"/>
            <a:ext cx="3200400" cy="658368"/>
          </a:xfrm>
          <a:prstGeom prst="roundRect">
            <a:avLst>
              <a:gd name="adj" fmla="val 8333"/>
            </a:avLst>
          </a:prstGeom>
          <a:solidFill>
            <a:srgbClr val="FF6A1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58368" y="461772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90A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construxvg.com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178808" y="461772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F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contact@construxvg.com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5806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500" kern="0" dirty="0">
                <a:solidFill>
                  <a:srgbClr val="8A96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</a:t>
            </a:r>
            <a:pPr indent="0" marL="0">
              <a:buNone/>
            </a:pPr>
            <a:r>
              <a:rPr lang="en-US" sz="1600" b="1" spc="500" kern="0" dirty="0">
                <a:solidFill>
                  <a:srgbClr val="FF6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CONSTRUX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CONSTRUX — the record that cannot be argued with</dc:title>
  <dc:subject>PptxGenJS Presentation</dc:subject>
  <dc:creator>CONSTRUX</dc:creator>
  <cp:lastModifiedBy>CONSTRUX</cp:lastModifiedBy>
  <cp:revision>1</cp:revision>
  <dcterms:created xsi:type="dcterms:W3CDTF">2026-09-08T07:32:39Z</dcterms:created>
  <dcterms:modified xsi:type="dcterms:W3CDTF">2026-09-08T07:32:39Z</dcterms:modified>
</cp:coreProperties>
</file>